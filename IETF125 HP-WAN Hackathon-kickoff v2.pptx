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00" r:id="rId5"/>
    <p:sldId id="401" r:id="rId6"/>
    <p:sldId id="41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217067" initials="1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822" autoAdjust="0"/>
  </p:normalViewPr>
  <p:slideViewPr>
    <p:cSldViewPr snapToGrid="0">
      <p:cViewPr varScale="1">
        <p:scale>
          <a:sx n="75" d="100"/>
          <a:sy n="75" d="100"/>
        </p:scale>
        <p:origin x="708" y="267"/>
      </p:cViewPr>
      <p:guideLst>
        <p:guide orient="horz" pos="2192"/>
        <p:guide pos="39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4EDB8-828F-47A9-BD40-4E08B8D046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0E414-691B-46EE-9BF2-21A17ADB53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E414-691B-46EE-9BF2-21A17ADB53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741376" y="548639"/>
            <a:ext cx="1080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4499298" y="211236"/>
            <a:ext cx="1417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draft-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</a:rPr>
              <a:t>hu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-bier-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</a:rPr>
              <a:t>bfd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47185" y="211236"/>
            <a:ext cx="1537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IETF103@Bangkok</a:t>
            </a:r>
            <a:endParaRPr lang="zh-CN" altLang="en-US" sz="1400" b="0" i="0" kern="1200" baseline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44500" y="1775012"/>
            <a:ext cx="11355917" cy="4424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189928"/>
            <a:ext cx="11355917" cy="454767"/>
          </a:xfrm>
        </p:spPr>
        <p:txBody>
          <a:bodyPr/>
          <a:lstStyle>
            <a:lvl1pPr>
              <a:defRPr>
                <a:solidFill>
                  <a:srgbClr val="FF66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3" name="直接连接符 2"/>
          <p:cNvCxnSpPr/>
          <p:nvPr userDrawn="1"/>
        </p:nvCxnSpPr>
        <p:spPr bwMode="auto">
          <a:xfrm>
            <a:off x="0" y="740701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59" name="TextBox 18"/>
          <p:cNvSpPr txBox="1">
            <a:spLocks noChangeArrowheads="1"/>
          </p:cNvSpPr>
          <p:nvPr userDrawn="1"/>
        </p:nvSpPr>
        <p:spPr bwMode="auto">
          <a:xfrm>
            <a:off x="11303995" y="215900"/>
            <a:ext cx="672851" cy="404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>
              <a:defRPr/>
            </a:pPr>
            <a:r>
              <a:rPr lang="zh-CN" altLang="en-US" sz="1335" b="0" dirty="0">
                <a:solidFill>
                  <a:srgbClr val="404040"/>
                </a:solidFill>
                <a:latin typeface="微软雅黑" panose="020B0503020204020204" charset="-122"/>
                <a:ea typeface="Heiti SC Light"/>
                <a:cs typeface="Heiti SC Light"/>
              </a:rPr>
              <a:t>秘密</a:t>
            </a:r>
            <a:r>
              <a:rPr lang="en-US" sz="1335" b="1" dirty="0">
                <a:solidFill>
                  <a:srgbClr val="404040"/>
                </a:solidFill>
                <a:latin typeface="微软雅黑" panose="020B0503020204020204" charset="-122"/>
                <a:ea typeface="Heiti SC Light"/>
                <a:cs typeface="Heiti SC Light"/>
              </a:rPr>
              <a:t>▲</a:t>
            </a:r>
            <a:endParaRPr lang="en-US" sz="1335" b="1" dirty="0">
              <a:solidFill>
                <a:srgbClr val="404040"/>
              </a:solidFill>
              <a:latin typeface="微软雅黑" panose="020B0503020204020204" charset="-122"/>
              <a:ea typeface="Heiti SC Light"/>
              <a:cs typeface="Heiti SC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683DD-9769-49BF-AEB4-9453FFE637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A51-3024-4AB4-87AE-80337BB74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64DFA-EA73-4076-A083-D14807ED67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931B-C47F-448A-B5A4-62BB0D10FE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405" y="397828"/>
            <a:ext cx="1132713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>
                <a:sym typeface="+mn-ea"/>
              </a:rPr>
              <a:t>IETF125 HP-WAN Hackathon</a:t>
            </a:r>
            <a:endParaRPr lang="en-US" altLang="zh-CN" sz="4800" dirty="0">
              <a:ea typeface="Arial Unicode MS" panose="020B0604020202020204" pitchFamily="34" charset="-122"/>
              <a:cs typeface="+mj-lt"/>
            </a:endParaRPr>
          </a:p>
        </p:txBody>
      </p:sp>
      <p:sp>
        <p:nvSpPr>
          <p:cNvPr id="6" name="副标题 2"/>
          <p:cNvSpPr>
            <a:spLocks noGrp="1"/>
          </p:cNvSpPr>
          <p:nvPr/>
        </p:nvSpPr>
        <p:spPr>
          <a:xfrm>
            <a:off x="963930" y="5328920"/>
            <a:ext cx="10937240" cy="12179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marL="228600" indent="-228600" algn="l" rt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IETF 125 @</a:t>
            </a:r>
            <a:r>
              <a:rPr lang="zh-CN" altLang="en-US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 </a:t>
            </a: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Shenzhen March, 2026</a:t>
            </a:r>
            <a:endParaRPr lang="zh-CN" altLang="en-US" sz="2000" dirty="0">
              <a:latin typeface="Calibri Light" panose="020F0302020204030204" charset="0"/>
              <a:ea typeface="思源黑体 CN Light" panose="020B0300000000000000" charset="-122"/>
              <a:cs typeface="Calibri Light" panose="020F03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55900" y="3470910"/>
            <a:ext cx="83978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080510">
              <a:spcBef>
                <a:spcPct val="50000"/>
              </a:spcBef>
            </a:pPr>
            <a:r>
              <a:rPr lang="sv-SE" altLang="zh-CN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Champions</a:t>
            </a:r>
            <a:r>
              <a:rPr lang="en-US" altLang="sv-SE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: </a:t>
            </a:r>
            <a:endParaRPr lang="en-US" altLang="sv-SE" sz="2000" b="1" dirty="0">
              <a:latin typeface="Cambria" panose="02040503050406030204" charset="0"/>
              <a:ea typeface="等线" panose="02010600030101010101" pitchFamily="2" charset="-122"/>
              <a:cs typeface="Cambria" panose="02040503050406030204" charset="0"/>
              <a:sym typeface="+mn-ea"/>
            </a:endParaRPr>
          </a:p>
          <a:p>
            <a:pPr defTabSz="4080510">
              <a:spcBef>
                <a:spcPct val="50000"/>
              </a:spcBef>
            </a:pPr>
            <a:r>
              <a:rPr lang="en-US" altLang="sv-SE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Quan Xiong (ZTE )</a:t>
            </a:r>
            <a:r>
              <a:rPr lang="sv-SE" altLang="zh-CN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, </a:t>
            </a:r>
            <a:r>
              <a:rPr lang="sv-SE" altLang="zh-CN" sz="2000" b="1" dirty="0">
                <a:solidFill>
                  <a:srgbClr val="FF0000"/>
                </a:solidFill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D</a:t>
            </a:r>
            <a:r>
              <a:rPr lang="en-US" altLang="sv-SE" sz="2000" b="1" dirty="0">
                <a:solidFill>
                  <a:srgbClr val="FF0000"/>
                </a:solidFill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a</a:t>
            </a:r>
            <a:r>
              <a:rPr lang="sv-SE" altLang="zh-CN" sz="2000" b="1" dirty="0">
                <a:solidFill>
                  <a:srgbClr val="FF0000"/>
                </a:solidFill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niel King</a:t>
            </a:r>
            <a:r>
              <a:rPr lang="en-US" altLang="sv-SE" sz="2000" b="1" dirty="0">
                <a:solidFill>
                  <a:srgbClr val="FF0000"/>
                </a:solidFill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 (</a:t>
            </a:r>
            <a:r>
              <a:rPr lang="en-US" altLang="zh-CN" sz="20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Lancaster University</a:t>
            </a:r>
            <a:r>
              <a:rPr lang="en-US" altLang="sv-SE" sz="2000" b="1" dirty="0">
                <a:solidFill>
                  <a:srgbClr val="FF0000"/>
                </a:solidFill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)</a:t>
            </a:r>
            <a:r>
              <a:rPr lang="sv-SE" altLang="zh-CN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,</a:t>
            </a:r>
            <a:endParaRPr lang="sv-SE" altLang="zh-CN" sz="2000" b="1" dirty="0">
              <a:latin typeface="Cambria" panose="02040503050406030204" charset="0"/>
              <a:ea typeface="等线" panose="02010600030101010101" pitchFamily="2" charset="-122"/>
              <a:cs typeface="Cambria" panose="02040503050406030204" charset="0"/>
              <a:sym typeface="+mn-ea"/>
            </a:endParaRPr>
          </a:p>
          <a:p>
            <a:pPr defTabSz="4080510">
              <a:spcBef>
                <a:spcPct val="50000"/>
              </a:spcBef>
            </a:pPr>
            <a:r>
              <a:rPr lang="sv-SE" altLang="zh-CN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 </a:t>
            </a:r>
            <a:r>
              <a:rPr lang="en-US" altLang="sv-SE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Kehan Yao (China Mobile)</a:t>
            </a:r>
            <a:r>
              <a:rPr lang="sv-SE" altLang="zh-CN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,  Junfeng Zhao</a:t>
            </a:r>
            <a:r>
              <a:rPr lang="en-US" altLang="sv-SE" sz="2000" b="1" dirty="0">
                <a:latin typeface="Cambria" panose="02040503050406030204" charset="0"/>
                <a:ea typeface="等线" panose="02010600030101010101" pitchFamily="2" charset="-122"/>
                <a:cs typeface="Cambria" panose="02040503050406030204" charset="0"/>
                <a:sym typeface="+mn-ea"/>
              </a:rPr>
              <a:t> (CAICT)</a:t>
            </a:r>
            <a:endParaRPr lang="en-US" altLang="sv-SE" sz="2000" b="1" dirty="0">
              <a:latin typeface="Cambria" panose="02040503050406030204" charset="0"/>
              <a:ea typeface="等线" panose="02010600030101010101" pitchFamily="2" charset="-122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1515" y="140335"/>
            <a:ext cx="11697335" cy="1325880"/>
          </a:xfrm>
        </p:spPr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IETF125 HP-WAN Hackathon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558165" y="1256665"/>
            <a:ext cx="11436350" cy="3189605"/>
          </a:xfrm>
        </p:spPr>
        <p:txBody>
          <a:bodyPr>
            <a:noAutofit/>
          </a:bodyPr>
          <a:lstStyle/>
          <a:p>
            <a:pPr marL="0" lvl="1">
              <a:buFont typeface="Arial" panose="020B0604020202020204" pitchFamily="34" charset="0"/>
              <a:buChar char="•"/>
            </a:pPr>
            <a:r>
              <a:rPr lang="en-US" altLang="zh-CN" sz="2100" b="1" dirty="0">
                <a:latin typeface="Cambria" panose="02040503050406030204" charset="0"/>
                <a:cs typeface="Cambria" panose="02040503050406030204" charset="0"/>
                <a:sym typeface="+mn-ea"/>
              </a:rPr>
              <a:t>Hackathon Goals</a:t>
            </a:r>
            <a:endParaRPr lang="en-US" altLang="zh-CN" sz="2100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HPWAN integration and simulation on topologies for public networks and service scenarios based on the HP-WAN framework and related functions, such as the rate negotiation, admission control, traffic scheduling, and resource reservations with distributed </a:t>
            </a:r>
            <a:r>
              <a:rPr lang="en-US" altLang="zh-CN" sz="1800" dirty="0" err="1">
                <a:latin typeface="Cambria" panose="02040503050406030204" charset="0"/>
                <a:cs typeface="Cambria" panose="02040503050406030204" charset="0"/>
                <a:sym typeface="+mn-ea"/>
              </a:rPr>
              <a:t>signalling</a:t>
            </a: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 (IETF RSVP-TE)</a:t>
            </a:r>
            <a:endParaRPr lang="en-US" altLang="zh-CN" sz="1800" dirty="0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Implement the system optimizations (e.g., QUIC-based) for the traffic transmission </a:t>
            </a:r>
            <a:endParaRPr lang="en-US" altLang="zh-CN" sz="1800" dirty="0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Test and e</a:t>
            </a:r>
            <a:r>
              <a:rPr lang="en-US" altLang="zh-CN" sz="1800" dirty="0">
                <a:latin typeface="Cambria" panose="02040503050406030204" charset="0"/>
                <a:sym typeface="+mn-ea"/>
              </a:rPr>
              <a:t>valuate</a:t>
            </a: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 the performance (</a:t>
            </a:r>
            <a:r>
              <a:rPr lang="en-US" altLang="zh-CN" sz="1800" dirty="0" err="1">
                <a:latin typeface="Cambria" panose="02040503050406030204" charset="0"/>
                <a:cs typeface="Cambria" panose="02040503050406030204" charset="0"/>
                <a:sym typeface="+mn-ea"/>
              </a:rPr>
              <a:t>e.g.,throughput</a:t>
            </a: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, delay, and packet loss) using RDMA, TCP, and UDP over the existing public network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Discuss HPWAN developments in R&amp;E networks and open-source controllers and orchestrators for integrated HPWAN scheduling and connection performance monitoring (IETF RestConf/NetConf/YANG)</a:t>
            </a:r>
            <a:endParaRPr lang="en-US" altLang="zh-CN" sz="1800" dirty="0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0" lvl="1"/>
            <a:r>
              <a:rPr lang="en-US" altLang="zh-CN" sz="2100" b="1" dirty="0">
                <a:latin typeface="Cambria" panose="02040503050406030204" charset="0"/>
                <a:sym typeface="+mn-ea"/>
              </a:rPr>
              <a:t>Activity plan</a:t>
            </a:r>
            <a:endParaRPr lang="en-US" altLang="zh-CN" sz="2100" b="1" dirty="0">
              <a:latin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sym typeface="+mn-ea"/>
              </a:rPr>
              <a:t>Develop initial service model for scheduled HPWAN-based services </a:t>
            </a:r>
            <a:endParaRPr lang="en-US" altLang="zh-CN" sz="1800" dirty="0">
              <a:latin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sym typeface="+mn-ea"/>
              </a:rPr>
              <a:t>Identify service and network performance metrics required to be reported from each HPWAN transport domain</a:t>
            </a:r>
            <a:endParaRPr lang="en-US" altLang="zh-CN" sz="1800" dirty="0">
              <a:latin typeface="Cambria" panose="02040503050406030204" charset="0"/>
              <a:sym typeface="+mn-ea"/>
            </a:endParaRPr>
          </a:p>
          <a:p>
            <a:pPr marL="914400" lvl="3"/>
            <a:r>
              <a:rPr lang="en-US" altLang="zh-CN" sz="1600" dirty="0">
                <a:latin typeface="Cambria" panose="02040503050406030204" charset="0"/>
                <a:sym typeface="+mn-ea"/>
              </a:rPr>
              <a:t>Start-up</a:t>
            </a:r>
            <a:endParaRPr lang="en-US" altLang="zh-CN" sz="1600" dirty="0">
              <a:latin typeface="Cambria" panose="02040503050406030204" charset="0"/>
              <a:sym typeface="+mn-ea"/>
            </a:endParaRPr>
          </a:p>
          <a:p>
            <a:pPr marL="914400" lvl="3"/>
            <a:r>
              <a:rPr lang="en-US" altLang="zh-CN" sz="1600" dirty="0">
                <a:latin typeface="Cambria" panose="02040503050406030204" charset="0"/>
                <a:sym typeface="+mn-ea"/>
              </a:rPr>
              <a:t>Ongoing</a:t>
            </a:r>
            <a:endParaRPr lang="en-US" altLang="zh-CN" sz="1600" dirty="0">
              <a:latin typeface="Cambria" panose="02040503050406030204" charset="0"/>
              <a:sym typeface="+mn-ea"/>
            </a:endParaRPr>
          </a:p>
          <a:p>
            <a:pPr marL="914400" lvl="3"/>
            <a:r>
              <a:rPr lang="en-US" altLang="zh-CN" sz="1600" dirty="0">
                <a:latin typeface="Cambria" panose="02040503050406030204" charset="0"/>
                <a:sym typeface="+mn-ea"/>
              </a:rPr>
              <a:t>Tear-down </a:t>
            </a:r>
            <a:endParaRPr lang="en-US" altLang="zh-CN" sz="1600" dirty="0">
              <a:latin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sym typeface="+mn-ea"/>
              </a:rPr>
              <a:t>Select IETF-based measurement methods and tools for ensure HPWAN service performance is met across each domain</a:t>
            </a:r>
            <a:endParaRPr lang="en-US" altLang="zh-CN" sz="1800" dirty="0">
              <a:latin typeface="Cambria" panose="02040503050406030204" charset="0"/>
              <a:sym typeface="+mn-ea"/>
            </a:endParaRPr>
          </a:p>
          <a:p>
            <a:pPr marL="0" lvl="0" indent="0">
              <a:buNone/>
            </a:pP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625" y="117475"/>
            <a:ext cx="11735435" cy="1325880"/>
          </a:xfrm>
        </p:spPr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Topology and Scenario for HP-WAN RSVP-TE Simulator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1553845"/>
            <a:ext cx="5431790" cy="375031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half" idx="1"/>
          </p:nvPr>
        </p:nvSpPr>
        <p:spPr>
          <a:xfrm>
            <a:off x="712470" y="1652270"/>
            <a:ext cx="5842635" cy="3189605"/>
          </a:xfrm>
        </p:spPr>
        <p:txBody>
          <a:bodyPr>
            <a:noAutofit/>
          </a:bodyPr>
          <a:lstStyle/>
          <a:p>
            <a:r>
              <a:rPr lang="en-US" altLang="zh-CN" sz="1800" b="1">
                <a:latin typeface="Cambria" panose="02040503050406030204" charset="0"/>
                <a:cs typeface="Cambria" panose="02040503050406030204" charset="0"/>
              </a:rPr>
              <a:t>Topology</a:t>
            </a:r>
            <a:endParaRPr lang="en-US" altLang="zh-CN" sz="1800" b="1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host 1~6 ( as client) and sink 1~2 (as server)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router 1~7 in WAN (link bandwidth is 40Gpbs 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and RTT is 10ms or 15ms (about 1000km/1500km)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pPr lvl="0"/>
            <a:r>
              <a:rPr lang="en-US" altLang="zh-CN" sz="1800" b="1">
                <a:latin typeface="Cambria" panose="02040503050406030204" charset="0"/>
                <a:cs typeface="Cambria" panose="02040503050406030204" charset="0"/>
              </a:rPr>
              <a:t>Scenario</a:t>
            </a:r>
            <a:endParaRPr lang="en-US" altLang="zh-CN" sz="1800" b="1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host 1~4 send a flow to sink1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host 5~6 send a flow to sink2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each flow is 100MB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800" b="1">
                <a:latin typeface="Cambria" panose="02040503050406030204" charset="0"/>
                <a:cs typeface="Cambria" panose="02040503050406030204" charset="0"/>
              </a:rPr>
              <a:t>Simulation Results</a:t>
            </a:r>
            <a:endParaRPr lang="zh-CN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FCT of per flow or multiple flows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sz="1800">
                <a:latin typeface="Cambria" panose="02040503050406030204" charset="0"/>
                <a:cs typeface="Cambria" panose="02040503050406030204" charset="0"/>
              </a:rPr>
              <a:t>Effective throughput at the receiving port</a:t>
            </a:r>
            <a:endParaRPr lang="en-US" altLang="zh-CN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1515" y="140335"/>
            <a:ext cx="11697335" cy="1325880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IETF125 HP-WAN Hackathon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558165" y="1256665"/>
            <a:ext cx="11436350" cy="3189605"/>
          </a:xfrm>
        </p:spPr>
        <p:txBody>
          <a:bodyPr>
            <a:noAutofit/>
          </a:bodyPr>
          <a:lstStyle/>
          <a:p>
            <a:pPr lvl="0"/>
            <a:r>
              <a:rPr lang="en-US" altLang="zh-CN" sz="2100" b="1" dirty="0">
                <a:latin typeface="Cambria" panose="02040503050406030204" charset="0"/>
                <a:cs typeface="Cambria" panose="02040503050406030204" charset="0"/>
                <a:sym typeface="+mn-ea"/>
              </a:rPr>
              <a:t>Related documents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https://datatracker.ietf.org/doc/draft-kcrh-hpwan-state-of-art/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https://datatracker.ietf.org/doc/draft-xhy-hpwan-framework/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https://datatracker.ietf.org/doc/draft-xiong-hpwan-signaling-solution/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https://datatracker.ietf.org/doc/draft-yx-hpwan-uc-requirements-public-operator/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/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https://datatracker.ietf.org/doc/draft-zhao-hpwan-scenarios-deployment/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Repository: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457200" lvl="2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ambria" panose="02040503050406030204" charset="0"/>
                <a:cs typeface="Cambria" panose="02040503050406030204" charset="0"/>
                <a:sym typeface="+mn-ea"/>
              </a:rPr>
              <a:t>https://github.com/xiongquan1230/IETF125-HP-WAN-Hackathon</a:t>
            </a:r>
            <a:endParaRPr lang="en-US" altLang="zh-CN" sz="18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Hackathon Table 23 HP-WAN Project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lvl="0"/>
            <a:r>
              <a:rPr lang="en-US" altLang="zh-CN" sz="2400" b="1" dirty="0">
                <a:latin typeface="Cambria" panose="02040503050406030204" charset="0"/>
                <a:cs typeface="Cambria" panose="02040503050406030204" charset="0"/>
                <a:sym typeface="+mn-ea"/>
              </a:rPr>
              <a:t>We greatly appreciate the participants (onsite or remote) to join us! Thanks!</a:t>
            </a:r>
            <a:endParaRPr lang="en-US" altLang="zh-CN" sz="2000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2139</Words>
  <Application>WPS 演示</Application>
  <PresentationFormat>Widescreen</PresentationFormat>
  <Paragraphs>51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Heiti SC Light</vt:lpstr>
      <vt:lpstr>Arial Unicode MS</vt:lpstr>
      <vt:lpstr>黑体</vt:lpstr>
      <vt:lpstr>Calibri Light</vt:lpstr>
      <vt:lpstr>思源黑体 CN Light</vt:lpstr>
      <vt:lpstr>Cambria</vt:lpstr>
      <vt:lpstr>Arial Unicode MS</vt:lpstr>
      <vt:lpstr>Calibri</vt:lpstr>
      <vt:lpstr>等线</vt:lpstr>
      <vt:lpstr>Office 主题</vt:lpstr>
      <vt:lpstr>IETF125 HP-WAN Hackathon</vt:lpstr>
      <vt:lpstr>IETF125 HP-WAN Hackathon</vt:lpstr>
      <vt:lpstr>Topology and Scenario for HP-WAN RSVP-TE Simulator</vt:lpstr>
      <vt:lpstr>IETF125 HP-WAN Hackathon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and User Plane Separation Architecture of Cloud based BNG</dc:title>
  <dc:creator>顾戎</dc:creator>
  <cp:lastModifiedBy>00091065</cp:lastModifiedBy>
  <cp:revision>747</cp:revision>
  <dcterms:created xsi:type="dcterms:W3CDTF">2017-03-24T15:06:00Z</dcterms:created>
  <dcterms:modified xsi:type="dcterms:W3CDTF">2026-03-14T03:04:27Z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1490623455</vt:lpwstr>
  </property>
  <property fmtid="{D5CDD505-2E9C-101B-9397-08002B2CF9AE}" pid="6" name="_2015_ms_pID_725343">
    <vt:lpwstr>(2)AqLL/kKpCoF8cilEz5UgN99bxnPawT3QP697Tg9PM5ayX+C7yvxCKKaaiAWcrZDoDLR73iMN
8V1t8DK7s9K8Hx6TePWisWETpDpOcnhDUwWzmeqRflXdaEa6MR6eS5oGz+ddCJ1fg3fGab3T
TOWNacOs8iC/7hU+io+nTihfXUCC9xLOV5nge9ElRAjuczXfSAcrqyrhpBSNIvXoOyKXSNOj
mVGXv6PUiYuEBnTnFx</vt:lpwstr>
  </property>
  <property fmtid="{D5CDD505-2E9C-101B-9397-08002B2CF9AE}" pid="7" name="_2015_ms_pID_7253431">
    <vt:lpwstr>b57wnylDwsSB+tasgxUOf8hubm6etGkOFxihcGSk1OlVb6GwV4mn5g
gvi8YbVIujb/61xCmqlJN0K+fyNBSH3/Yp1Pc5G1K1uwWrN4czSUJKsPP9GWNuHPIbhUu/3q
92JGyUJvFSlgrFBJAdJTlrwkAgxdsWc1GbnNp+FqkhwwaA==</vt:lpwstr>
  </property>
  <property fmtid="{D5CDD505-2E9C-101B-9397-08002B2CF9AE}" pid="8" name="KSOProductBuildVer">
    <vt:lpwstr>2052-11.8.2.12085</vt:lpwstr>
  </property>
  <property fmtid="{D5CDD505-2E9C-101B-9397-08002B2CF9AE}" pid="9" name="ICV">
    <vt:lpwstr>24EDC23DBA824BE8B2D36E0016FAF0FE</vt:lpwstr>
  </property>
</Properties>
</file>